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2444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5FA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CODEBASE  ·  AGENTIC SDLC RETROFIT  ·  PRODUCTION-SAFE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Year-Old </a:t>
            </a:r>
            <a:pPr indent="0" marL="0">
              <a:buNone/>
            </a:pPr>
            <a:r>
              <a:rPr lang="en-US" sz="4000" b="1" dirty="0">
                <a:solidFill>
                  <a:srgbClr val="FF8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Autonomous </a:t>
            </a:r>
            <a:pPr indent="0" marL="0">
              <a:buNone/>
            </a:pPr>
            <a:r>
              <a:rPr lang="en-US" sz="3600" b="1" dirty="0">
                <a:solidFill>
                  <a:srgbClr val="5B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existing microservices · Train Claude on your codebase · Generate stories from real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legacy code + tests · Add Playwright E2E · Deploy safely. Zero greenfield assumptions.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609344" cy="237744"/>
          </a:xfrm>
          <a:prstGeom prst="rect">
            <a:avLst/>
          </a:prstGeom>
          <a:solidFill>
            <a:srgbClr val="FF8C61">
              <a:alpha val="25000"/>
            </a:srgbClr>
          </a:solidFill>
          <a:ln w="12700">
            <a:solidFill>
              <a:srgbClr val="FF8C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Prework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67712" y="3310128"/>
            <a:ext cx="1609344" cy="237744"/>
          </a:xfrm>
          <a:prstGeom prst="rect">
            <a:avLst/>
          </a:prstGeom>
          <a:solidFill>
            <a:srgbClr val="5BC8F5">
              <a:alpha val="25000"/>
            </a:srgbClr>
          </a:solidFill>
          <a:ln w="12700">
            <a:solidFill>
              <a:srgbClr val="5BC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33101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86784" y="3310128"/>
            <a:ext cx="1298448" cy="237744"/>
          </a:xfrm>
          <a:prstGeom prst="rect">
            <a:avLst/>
          </a:prstGeom>
          <a:solidFill>
            <a:srgbClr val="7EC99A">
              <a:alpha val="25000"/>
            </a:srgbClr>
          </a:solidFill>
          <a:ln w="12700">
            <a:solidFill>
              <a:srgbClr val="7EC9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6784" y="33101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Claude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94960" y="3310128"/>
            <a:ext cx="1609344" cy="237744"/>
          </a:xfrm>
          <a:prstGeom prst="rect">
            <a:avLst/>
          </a:prstGeom>
          <a:solidFill>
            <a:srgbClr val="C9A6FF">
              <a:alpha val="25000"/>
            </a:srgbClr>
          </a:solidFill>
          <a:ln w="12700">
            <a:solidFill>
              <a:srgbClr val="C9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3101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→ Stories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14032" y="3310128"/>
            <a:ext cx="1453896" cy="237744"/>
          </a:xfrm>
          <a:prstGeom prst="rect">
            <a:avLst/>
          </a:prstGeom>
          <a:solidFill>
            <a:srgbClr val="FFCA6A">
              <a:alpha val="25000"/>
            </a:srgbClr>
          </a:solidFill>
          <a:ln w="12700">
            <a:solidFill>
              <a:srgbClr val="FFC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331012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2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prework guide for production systems with customer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SHIFT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Difference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3291840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Greenfield (Previous Guide)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Epic → generate everything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8653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invents architecture fresh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code conflicts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 baseline (zero tests)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54864" cy="3291840"/>
          </a:xfrm>
          <a:prstGeom prst="rect">
            <a:avLst/>
          </a:prstGeom>
          <a:solidFill>
            <a:srgbClr val="D460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🏚  Legacy Retrofit (This Guide)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14447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CODE → derive stories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7922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learns YOUR architecture first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13969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patterns must be respected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24871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tests may be broken/absent/wrong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risks breaking production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1821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integrations = extra risk surface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F5C9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453128"/>
            <a:ext cx="8046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Core Rule: Claude must READ before it WRITES. Prework creates the knowledge base so agents understand your codebase's patterns, antipatterns, and customer dependencies before generating a single story.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Legacy SDLC Flow Differs from Greenfield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88920" y="104241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77640" y="104241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104241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104241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43800" y="1042416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1042416"/>
            <a:ext cx="1005840" cy="29260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042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444752"/>
            <a:ext cx="8229600" cy="0"/>
          </a:xfrm>
          <a:prstGeom prst="line">
            <a:avLst/>
          </a:prstGeom>
          <a:noFill/>
          <a:ln w="12700">
            <a:solidFill>
              <a:srgbClr val="D0D9E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1554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54480" y="157276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54480" y="1572768"/>
            <a:ext cx="54864" cy="822960"/>
          </a:xfrm>
          <a:prstGeom prst="rect">
            <a:avLst/>
          </a:prstGeom>
          <a:solidFill>
            <a:srgbClr val="0077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82496" y="1627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 Scan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82496" y="1920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Archaeology — read all services, no changes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239572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54480" y="257860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554480" y="2578608"/>
            <a:ext cx="54864" cy="822960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2496" y="2633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Knowledge Base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82496" y="2926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DEPENDENCY_MAP.md, TEST_HEALTH.md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340156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554480" y="358444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554480" y="3584448"/>
            <a:ext cx="54864" cy="822960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82496" y="3639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Story Generation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82496" y="39319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(reverse) + Type B (gap) stories from code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157276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1572768"/>
            <a:ext cx="54864" cy="822960"/>
          </a:xfrm>
          <a:prstGeom prst="rect">
            <a:avLst/>
          </a:prstGeom>
          <a:solidFill>
            <a:srgbClr val="D460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97296" y="1627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Legacy Fix 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97296" y="1920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P1/P2/P3 priority — fix before new features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239572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0" y="257860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0" y="2578608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97296" y="2633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E2E Playwright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97296" y="2926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Internal API + Customer Contract test layers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340156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0" y="3584448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669280" y="3584448"/>
            <a:ext cx="54864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3639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 + Rollback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797296" y="39319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Canary/blue-green with customer contract gate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Prework Map — 6 Steps Before Any Agent Runs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43584"/>
            <a:ext cx="402336" cy="402336"/>
          </a:xfrm>
          <a:prstGeom prst="rect">
            <a:avLst/>
          </a:prstGeom>
          <a:solidFill>
            <a:srgbClr val="D460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Inventory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microservices, versions, owners, customer-facing 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43584"/>
            <a:ext cx="402336" cy="402336"/>
          </a:xfrm>
          <a:prstGeom prst="rect">
            <a:avLst/>
          </a:prstGeom>
          <a:solidFill>
            <a:srgbClr val="0077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68496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reads each service — tech stack, APIs, data models,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243584"/>
            <a:ext cx="402336" cy="402336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21424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CLAUDE.md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+ per-service context files. Claude's persistent knowledge 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2935224"/>
            <a:ext cx="402336" cy="402336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429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missing: tests, validation, error handling, broken functionality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935224"/>
            <a:ext cx="402336" cy="402336"/>
          </a:xfrm>
          <a:prstGeom prst="rect">
            <a:avLst/>
          </a:prstGeom>
          <a:solidFill>
            <a:srgbClr val="A07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68496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429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map, customer API contracts, danger zones, shared DB tables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2935224"/>
            <a:ext cx="402336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21424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3429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(reverse: existing behavior) + Type B (gap: what's missing/broken)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solidFill>
            <a:srgbClr val="E8F4FF"/>
          </a:solidFill>
          <a:ln w="12700">
            <a:solidFill>
              <a:srgbClr val="93C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9884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budget: 2–3 days for 8–10 services. Not optional overhead — the difference between an agent that understands your system and one that breaks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Archaeology — What Claude Scans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700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70048" cy="438912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Service Profile Scan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+ dependency versions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110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 endpoint + consumer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@Entity classes + DB relationships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count vs prod class 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TODO/FIXME patterns + security red flags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483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calls + event topics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6700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05840"/>
            <a:ext cx="2670048" cy="438912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24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Dependency Map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517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service call graph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19110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tables (blast radius)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API surface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topic publish/consume 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3090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paths (A→B→C→D chains)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3483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zones: no circuit breaker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6700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670048" cy="438912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24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Health Scan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517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vs 5 per service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19110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with zero assertions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FAILING tests (mvn test)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@Ignored tests — why?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090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estimate per service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3483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vs H2 usage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36592"/>
            <a:ext cx="8229600" cy="246888"/>
          </a:xfrm>
          <a:prstGeom prst="rect">
            <a:avLst/>
          </a:prstGeom>
          <a:solidFill>
            <a:srgbClr val="1A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3659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SERVICE_PROFILE.md  ·  DEPENDENCY_MAP.md  ·  TEST_HEALTH.md  (one file per service, READ-ONLY mode)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Claude on Your Codebase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solidFill>
            <a:srgbClr val="E8F4FF"/>
          </a:solidFill>
          <a:ln w="12700">
            <a:solidFill>
              <a:srgbClr val="93C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8010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Concept: Claude has no persistent memory between sessions. "Training Claude" = creating well-structured files every agent reads at session start. Quality of files = quality of every story, fix, and test generated.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2670048" cy="347472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8191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CLAUDE.md (root)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rules: never modify customer APIs without approval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39572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map: name, port, Java version, DB, customer-facing?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8072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patterns: exception handling, auth, DTO, testing style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 contracts: which endpoints are SLA-protected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63016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 versions (changes cascade to ALL services)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572768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72768"/>
            <a:ext cx="2670048" cy="347472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58191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{service}/CLAUDE.md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198424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Service-specific quirks: known flags, legacy paths, odd configs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01568" y="239572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known issues with JIRA ticket refs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28072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state: coverage %, ignored tests, hardcoded test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321868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zones: what can be changed with normal care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363016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zones: what needs human approval before touching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572768"/>
            <a:ext cx="26700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72768"/>
            <a:ext cx="2670048" cy="347472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58191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DOMAIN_GLOSSARY.md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198424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business terms (User vs Customer vs Merchant)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239572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agents must know (30-day deactivation notice)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28072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is NOT (not a payment processor)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321868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constraints (customer API &lt;200ms)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363016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fields and encryption requirements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8229600" cy="91440"/>
          </a:xfrm>
          <a:prstGeom prst="rect">
            <a:avLst/>
          </a:prstGeom>
          <a:solidFill>
            <a:srgbClr val="0E9E5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Claude Is Trained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these 4 questions. All must be answered correctly without you explaining anything.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54864" cy="777240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591056"/>
            <a:ext cx="274320" cy="274320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4173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if I change UserRepository.findByEmail()?"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175564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4 downstream callers, flags customer risk, suggests safe approach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777240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478024"/>
            <a:ext cx="274320" cy="274320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23042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test for UserService.createUser() following our patterns"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264" y="264261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style, correct base class, H2, naming matches existing tests exactly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27248"/>
            <a:ext cx="54864" cy="777240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" y="3364992"/>
            <a:ext cx="274320" cy="274320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" y="319125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to add a nickname field to the User entity?"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264" y="35295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customer API contract, migration needed, shared library impact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014216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14216"/>
            <a:ext cx="54864" cy="777240"/>
          </a:xfrm>
          <a:prstGeom prst="rect">
            <a:avLst/>
          </a:prstGeom>
          <a:solidFill>
            <a:srgbClr val="6D3F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" y="4251960"/>
            <a:ext cx="274320" cy="274320"/>
          </a:xfrm>
          <a:prstGeom prst="rect">
            <a:avLst/>
          </a:prstGeom>
          <a:solidFill>
            <a:srgbClr val="6D3FC7">
              <a:alpha val="12000"/>
            </a:srgbClr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9264" y="407822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story for adding order filtering by date range"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9264" y="44165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existing filter patterns, flags no schema change needed, correct SP estimate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 FROM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2148840"/>
          </a:xfrm>
          <a:prstGeom prst="rect">
            <a:avLst/>
          </a:prstGeom>
          <a:solidFill>
            <a:srgbClr val="EDFAF3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2148840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— Reverse Stories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code CURRENTLY does.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source of truth for preserved behavior.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regression protection baseline.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144018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code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0" y="2176272"/>
            <a:ext cx="144018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176272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dev needed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2148840"/>
          </a:xfrm>
          <a:prstGeom prst="rect">
            <a:avLst/>
          </a:prstGeom>
          <a:solidFill>
            <a:srgbClr val="E8F4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54864" cy="2148840"/>
          </a:xfrm>
          <a:prstGeom prst="rect">
            <a:avLst/>
          </a:prstGeom>
          <a:solidFill>
            <a:srgbClr val="0077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78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 — Gap Stories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 SHOULD do but doesn't.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tests, broken edge cases, absent features,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needing modernization.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176272"/>
            <a:ext cx="1440180" cy="201168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76272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dev work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08192" y="2176272"/>
            <a:ext cx="1234440" cy="201168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2176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sprint-planned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8229600" cy="164592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3284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 — Reverse Stories                              TYPE B — Gap Stories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35935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US-E001  [Existing] User Login with JWT       5pt  HIGH    US-G001  [Fix] 3 failing tests in UserServiceTest  2pt  P1  ← do FIRST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8587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US-E002  [Existing] Create User (Admin)        3pt  HIGH    US-G002  [Add] Input validation on POST /users      3pt  P1  (security)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12394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US-E003  [Existing] List Users + Pagination    3pt  HIGH    US-G003  [Fix] N+1 query in searchUsers (UMS-3102) 5pt  P2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43891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US-E005  [Existing] Deactivate User (30-day)   5pt  HIGH    US-G006  [Upgrade] Spring Boot 2.7.x → 3.2.x      13pt  P2  (careful)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A07800">
              <a:alpha val="12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Fixes — Production-Safe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solidFill>
            <a:srgbClr val="FFF0EF"/>
          </a:solidFill>
          <a:ln w="12700">
            <a:solidFill>
              <a:srgbClr val="F5A9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Safety Rule: (1) Write a test capturing CURRENT behavior FIRST  →  (2) Verify it passes  →  (3) Make the fix  →  (4) Verify test still passes. NEVER fix without a test anchor.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8229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Priority Matrix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93392"/>
            <a:ext cx="2651760" cy="256032"/>
          </a:xfrm>
          <a:prstGeom prst="rect">
            <a:avLst/>
          </a:prstGeom>
          <a:solidFill>
            <a:srgbClr val="F1F4F9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993392"/>
            <a:ext cx="1371600" cy="256032"/>
          </a:xfrm>
          <a:prstGeom prst="rect">
            <a:avLst/>
          </a:prstGeom>
          <a:solidFill>
            <a:srgbClr val="F1F4F9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993392"/>
            <a:ext cx="2926080" cy="256032"/>
          </a:xfrm>
          <a:prstGeom prst="rect">
            <a:avLst/>
          </a:prstGeom>
          <a:solidFill>
            <a:srgbClr val="F1F4F9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93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1993392"/>
            <a:ext cx="822960" cy="256032"/>
          </a:xfrm>
          <a:prstGeom prst="rect">
            <a:avLst/>
          </a:prstGeom>
          <a:solidFill>
            <a:srgbClr val="F1F4F9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993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249424"/>
            <a:ext cx="2651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24942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24942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224942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24942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2249424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build on broken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43800" y="2304288"/>
            <a:ext cx="822960" cy="20116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2578608"/>
            <a:ext cx="265176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257860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 (no input validation)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578608"/>
            <a:ext cx="137160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2578608"/>
            <a:ext cx="292608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2578608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= injection risk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43800" y="2633472"/>
            <a:ext cx="822960" cy="201168"/>
          </a:xfrm>
          <a:prstGeom prst="rect">
            <a:avLst/>
          </a:prstGeom>
          <a:solidFill>
            <a:srgbClr val="A07800">
              <a:alpha val="15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2907792"/>
            <a:ext cx="2651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290779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 / crash bugs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290779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2907792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290779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290779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reliability risk in production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43800" y="2962656"/>
            <a:ext cx="822960" cy="201168"/>
          </a:xfrm>
          <a:prstGeom prst="rect">
            <a:avLst/>
          </a:prstGeom>
          <a:solidFill>
            <a:srgbClr val="A07800">
              <a:alpha val="15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" y="3236976"/>
            <a:ext cx="265176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32369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queries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46120" y="3236976"/>
            <a:ext cx="137160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00984" y="3236976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17720" y="3236976"/>
            <a:ext cx="292608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3236976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not currently blocking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543800" y="3291840"/>
            <a:ext cx="822960" cy="201168"/>
          </a:xfrm>
          <a:prstGeom prst="rect">
            <a:avLst/>
          </a:prstGeom>
          <a:solidFill>
            <a:srgbClr val="A07800">
              <a:alpha val="15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43800" y="3291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" y="3566160"/>
            <a:ext cx="2651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" y="35661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gaps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46120" y="35661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00984" y="3566160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17720" y="35661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72584" y="3566160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safe changes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43800" y="3621024"/>
            <a:ext cx="822960" cy="201168"/>
          </a:xfrm>
          <a:prstGeom prst="rect">
            <a:avLst/>
          </a:prstGeom>
          <a:solidFill>
            <a:srgbClr val="0E9E5C">
              <a:alpha val="15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43800" y="3621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94360" y="3895344"/>
            <a:ext cx="265176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" y="389534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removal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46120" y="3895344"/>
            <a:ext cx="137160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00984" y="389534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3+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17720" y="3895344"/>
            <a:ext cx="2926080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3895344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customer use confirmation first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43800" y="3950208"/>
            <a:ext cx="822960" cy="2011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4360" y="4224528"/>
            <a:ext cx="2651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" y="422452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upgrades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46120" y="42245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00984" y="422452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sprint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617720" y="42245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72584" y="4224528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required — never bundle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43800" y="4279392"/>
            <a:ext cx="822960" cy="2011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43800" y="4279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— Three Test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2670048" cy="5029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424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UI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115568"/>
            <a:ext cx="731520" cy="201168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tests against React/Angular UI. Tests real user journeys.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each role (ADMIN, MANAGER, CUSTOMER)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creates/edits/deactivates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creates and tracks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updates order status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pattern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24128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24128"/>
            <a:ext cx="2670048" cy="5029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0424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Internal API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76672" y="1115568"/>
            <a:ext cx="73152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11155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15544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tests against REST endpoints directly. No browser overhead.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20574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endpoint, all HTTP verbs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4231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flows: valid/invalid/expired tokens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7889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 codes and edge cases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154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filtering, sorting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browser spin-up cost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024128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024128"/>
            <a:ext cx="2670048" cy="50292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0424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Customer Contract Tests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11312" y="1115568"/>
            <a:ext cx="891540" cy="201168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1115568"/>
            <a:ext cx="891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@contract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155448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exactly what CUSTOMER applications do. Most critical layer.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05740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customer's actual auth method (API Key etc.)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4231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only contracted endpoints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7889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contracted response fields only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1546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OK — field removals = breaking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every single deployment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809744"/>
            <a:ext cx="8229600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0974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Customer contract tests MUST gate every deployment — a broken contract test = customer's production app broken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Checklist — Do In This Order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149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Prework (No Code Changes)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325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archaeology scan on each service → SERVICE_PROFILE.md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618488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6184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dependency map → DEPENDENCY_MAP.md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1911096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19110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health scan → TEST_HEALTH.md per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203704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203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root CLAUDE.md + per-service CLAUDE.md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496312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24963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ARCHITECTURE.md (as-is, truthful) + DOMAIN_GLOSSARY.md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788920"/>
            <a:ext cx="274320" cy="274320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27889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Claude answers 4 training test questions correctly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45536"/>
            <a:ext cx="8229600" cy="2743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1546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Story Gen + Sprint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465576"/>
            <a:ext cx="274320" cy="2743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34655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 (legacy mode) on each service → Jira backlog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3758184"/>
            <a:ext cx="274320" cy="2743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" y="37581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review: P1 gaps + risk levels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050792"/>
            <a:ext cx="274320" cy="2743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2688" y="40507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0: ONLY fix P1 gaps (failing tests, security)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4343400"/>
            <a:ext cx="274320" cy="274320"/>
          </a:xfrm>
          <a:prstGeom prst="rect">
            <a:avLst/>
          </a:prstGeom>
          <a:solidFill>
            <a:srgbClr val="0077CC">
              <a:alpha val="12000"/>
            </a:srgbClr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2688" y="4343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test health scan — verify baseline improved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700016"/>
            <a:ext cx="82296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— First Autonomous Sprint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020056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5020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2688" y="502005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Playwright project + Layer 2 API tests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5312664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5312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2688" y="53126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 contract tests (Layer 3) — highest priority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5605272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5605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32688" y="56052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UI smoke tests (Layer 1) for core user journeys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5897880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5897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32688" y="5897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CI on @contract + @smoke tests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" y="6190488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6190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2688" y="61904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feature story through full agentic pipeline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6928" y="6483096"/>
            <a:ext cx="27432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6483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32688" y="64830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PR — patterns followed, zero regressions ✅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444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Start Tomorrow Morning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115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commands. One morning. Claude will understand your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315200" cy="2560320"/>
          </a:xfrm>
          <a:prstGeom prst="rect">
            <a:avLst/>
          </a:prstGeom>
          <a:solidFill>
            <a:srgbClr val="060C1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02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 &amp;&amp; claude 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Navigate to your most critical production 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/path/to/your/most-important-service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Run the service archaeology scan (read-only)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   # then paste the SERVICE PROFILE prompt from Phase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Takes 10–15 min per service. Repeat for all services.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Prework + Sprint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5760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touchpoints 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C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94360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contract safety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to Agentic SDLC</dc:title>
  <dc:subject>PptxGenJS Presentation</dc:subject>
  <dc:creator>Claude</dc:creator>
  <cp:lastModifiedBy>Claude</cp:lastModifiedBy>
  <cp:revision>1</cp:revision>
  <dcterms:created xsi:type="dcterms:W3CDTF">2026-05-31T18:45:14Z</dcterms:created>
  <dcterms:modified xsi:type="dcterms:W3CDTF">2026-05-31T18:45:14Z</dcterms:modified>
</cp:coreProperties>
</file>
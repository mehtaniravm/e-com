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D4B7C">
              <a:alpha val="3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47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7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DEEP-DIVE INTO AGENTIC ENGINEERING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75488" y="6400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to Cloud,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75488" y="1243584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Autonomously.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75488" y="2029968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Agents Transform the Entire SDLC 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Epic to Deployment, Manually and at Scale.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" y="2852928"/>
            <a:ext cx="2651760" cy="310896"/>
          </a:xfrm>
          <a:prstGeom prst="rect">
            <a:avLst/>
          </a:prstGeom>
          <a:solidFill>
            <a:srgbClr val="42A5F5">
              <a:alpha val="2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8529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Manual SDLC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2852928"/>
            <a:ext cx="2651760" cy="310896"/>
          </a:xfrm>
          <a:prstGeom prst="rect">
            <a:avLst/>
          </a:prstGeom>
          <a:solidFill>
            <a:srgbClr val="00ACC1">
              <a:alpha val="20000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8529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Agentic Orchestra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08192" y="2852928"/>
            <a:ext cx="2651760" cy="310896"/>
          </a:xfrm>
          <a:prstGeom prst="rect">
            <a:avLst/>
          </a:prstGeom>
          <a:solidFill>
            <a:srgbClr val="F57C00">
              <a:alpha val="20000"/>
            </a:srgbClr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08192" y="28529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Legacy Intelligence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" y="329184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GitHub Copilot Compatible  ✦  Claude Code Compatible  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7000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by Curiosity. Built by Discipline. Delivered by Nirav Mehta.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1645920" cy="219456"/>
          </a:xfrm>
          <a:prstGeom prst="rect">
            <a:avLst/>
          </a:prstGeom>
          <a:solidFill>
            <a:srgbClr val="D32F2F">
              <a:alpha val="13000"/>
            </a:srgbClr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75488" y="49377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 SDLC Needs to Evolve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5488" y="1069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manual process that took 3 weeks in 2018 still takes 3 weeks today. These six pain points block every team.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02336" y="1316736"/>
            <a:ext cx="277977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2336" y="1316736"/>
            <a:ext cx="2779776" cy="54864"/>
          </a:xfrm>
          <a:prstGeom prst="rect">
            <a:avLst/>
          </a:prstGeom>
          <a:solidFill>
            <a:srgbClr val="D32F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444752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87552" y="144475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Before Every Story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1865376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spend 1–3 days reading legacy code before writing a story. Multiply by 15+ services and 4 sprints a year.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28416" y="1316736"/>
            <a:ext cx="277977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28416" y="1316736"/>
            <a:ext cx="2779776" cy="54864"/>
          </a:xfrm>
          <a:prstGeom prst="rect">
            <a:avLst/>
          </a:prstGeom>
          <a:solidFill>
            <a:srgbClr val="D32F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8144" y="1444752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913632" y="144475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Documentation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38144" y="1865376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year-old microservices with no docs, no architecture records. Every new developer starts from zero.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54496" y="1316736"/>
            <a:ext cx="277977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4496" y="1316736"/>
            <a:ext cx="2779776" cy="54864"/>
          </a:xfrm>
          <a:prstGeom prst="rect">
            <a:avLst/>
          </a:prstGeom>
          <a:solidFill>
            <a:srgbClr val="D32F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4224" y="1444752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39712" y="144475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Every Step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64224" y="1865376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→ Stories → Design → Code → Tests → Deploy. Each handoff is a context switch, a meeting, a delay.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2336" y="3054096"/>
            <a:ext cx="277977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02336" y="3054096"/>
            <a:ext cx="2779776" cy="54864"/>
          </a:xfrm>
          <a:prstGeom prst="rect">
            <a:avLst/>
          </a:prstGeom>
          <a:solidFill>
            <a:srgbClr val="D32F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3182112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87552" y="318211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Contract Safety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" y="3602736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APIs break silently. No automated contract tests. A routine refactor becomes a production incident.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28416" y="3054096"/>
            <a:ext cx="277977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28416" y="3054096"/>
            <a:ext cx="2779776" cy="54864"/>
          </a:xfrm>
          <a:prstGeom prst="rect">
            <a:avLst/>
          </a:prstGeom>
          <a:solidFill>
            <a:srgbClr val="D32F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38144" y="3182112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913632" y="318211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Slow Work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38144" y="3602736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'Who owns this table?' 'Is it safe to change this method?' — each question costs hours before work can begin.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54496" y="3054096"/>
            <a:ext cx="277977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54496" y="3054096"/>
            <a:ext cx="2779776" cy="54864"/>
          </a:xfrm>
          <a:prstGeom prst="rect">
            <a:avLst/>
          </a:prstGeom>
          <a:solidFill>
            <a:srgbClr val="D32F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64224" y="3182112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39712" y="318211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Anxiety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64224" y="3602736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defined deployment plan, no rollback playbook, no smoke test automation. Every GKE deploy is a manual risk.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2103120" cy="219456"/>
          </a:xfrm>
          <a:prstGeom prst="rect">
            <a:avLst/>
          </a:prstGeom>
          <a:solidFill>
            <a:srgbClr val="1565C0">
              <a:alpha val="13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75488" y="49377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— One Journey to Autonomous SDLC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5488" y="1069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full control. Grow into full autonomy. Each phase is independently valuable — no big-bang adoption.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02336" y="1234440"/>
            <a:ext cx="2779776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2336" y="1234440"/>
            <a:ext cx="2779776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33472" y="1298448"/>
            <a:ext cx="402336" cy="402336"/>
          </a:xfrm>
          <a:prstGeom prst="ellipse">
            <a:avLst/>
          </a:prstGeom>
          <a:solidFill>
            <a:srgbClr val="FFFFFF">
              <a:alpha val="28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" y="127101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ONE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2064" y="1426464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SDLC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 Agents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12064" y="2121408"/>
            <a:ext cx="25786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runs when you prompt it. Perfect for learning, regulated environments, or sensitive features.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2064" y="2798064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Jira Epic → Story Agent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064" y="314553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Architect → Planner → Dev Agent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2064" y="3493008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Test Agent → DevOps Agent → GKE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2064" y="384048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Works in Copilot &amp; Claude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2064" y="4663440"/>
            <a:ext cx="2578608" cy="182880"/>
          </a:xfrm>
          <a:prstGeom prst="rect">
            <a:avLst/>
          </a:prstGeom>
          <a:solidFill>
            <a:srgbClr val="1565C0">
              <a:alpha val="1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4663440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· Full Control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10128" y="1234440"/>
            <a:ext cx="2779776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10128" y="1234440"/>
            <a:ext cx="2779776" cy="804672"/>
          </a:xfrm>
          <a:prstGeom prst="rect">
            <a:avLst/>
          </a:prstGeom>
          <a:solidFill>
            <a:srgbClr val="0083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41264" y="1298448"/>
            <a:ext cx="402336" cy="402336"/>
          </a:xfrm>
          <a:prstGeom prst="ellipse">
            <a:avLst/>
          </a:prstGeom>
          <a:solidFill>
            <a:srgbClr val="FFFFFF">
              <a:alpha val="28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41264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19856" y="127101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TWO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19856" y="1426464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 Agent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3419856" y="2121408"/>
            <a:ext cx="25786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Queen Agent auto-orchestrates all SDLC phases. You approve at 3 gates. It handles everything else.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19856" y="2798064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Epic → Stories → Code → Tests → GKE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19856" y="314553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 token optimisation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19856" y="3493008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Full audit trail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19856" y="384048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Copilot + Claude compatible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19856" y="4663440"/>
            <a:ext cx="2578608" cy="182880"/>
          </a:xfrm>
          <a:prstGeom prst="rect">
            <a:avLst/>
          </a:prstGeom>
          <a:solidFill>
            <a:srgbClr val="00838F">
              <a:alpha val="10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19856" y="4663440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Speed · Human Gates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1234440"/>
            <a:ext cx="2779776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1234440"/>
            <a:ext cx="2779776" cy="804672"/>
          </a:xfrm>
          <a:prstGeom prst="rect">
            <a:avLst/>
          </a:prstGeom>
          <a:solidFill>
            <a:srgbClr val="E651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9056" y="1298448"/>
            <a:ext cx="402336" cy="402336"/>
          </a:xfrm>
          <a:prstGeom prst="ellipse">
            <a:avLst/>
          </a:prstGeom>
          <a:solidFill>
            <a:srgbClr val="FFFFFF">
              <a:alpha val="28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49056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27648" y="127101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THREE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27648" y="1426464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Code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6327648" y="2121408"/>
            <a:ext cx="25786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5–8 year-old services. Scan, understand, document, generate stories, find bugs — before touching a line.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27648" y="2798064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Code Archaeology skill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27648" y="314553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Story Generator from code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27648" y="3493008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Repo QA Agent (ask your code)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327648" y="384048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CodeFixes per finding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327648" y="4663440"/>
            <a:ext cx="2578608" cy="182880"/>
          </a:xfrm>
          <a:prstGeom prst="rect">
            <a:avLst/>
          </a:prstGeom>
          <a:solidFill>
            <a:srgbClr val="E65100">
              <a:alpha val="1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27648" y="4663440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Legacy-Safe · Zero Guessing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2377440" cy="219456"/>
          </a:xfrm>
          <a:prstGeom prst="rect">
            <a:avLst/>
          </a:prstGeom>
          <a:solidFill>
            <a:srgbClr val="1565C0">
              <a:alpha val="13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MANUAL SDLC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75488" y="49377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SDLC — Epic to GKE, One Agent at a Time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5488" y="1069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is triggered manually in sequence. You stay in control of every handoff. Works in both Copilot and Claude.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1097280" cy="914400"/>
          </a:xfrm>
          <a:prstGeom prst="rect">
            <a:avLst/>
          </a:prstGeom>
          <a:solidFill>
            <a:srgbClr val="F7F9FC"/>
          </a:solidFill>
          <a:ln w="12700">
            <a:solidFill>
              <a:srgbClr val="9EB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533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Epic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9751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E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71600" y="1755648"/>
            <a:ext cx="128016" cy="0"/>
          </a:xfrm>
          <a:prstGeom prst="line">
            <a:avLst/>
          </a:prstGeom>
          <a:noFill/>
          <a:ln w="19050">
            <a:solidFill>
              <a:srgbClr val="9EB3C8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1499616" y="1298448"/>
            <a:ext cx="10972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99616" y="13533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99616" y="16642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99616" y="19751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E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Role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96896" y="1755648"/>
            <a:ext cx="128016" cy="0"/>
          </a:xfrm>
          <a:prstGeom prst="line">
            <a:avLst/>
          </a:prstGeom>
          <a:noFill/>
          <a:ln w="19050">
            <a:solidFill>
              <a:srgbClr val="9EB3C8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2724912" y="1298448"/>
            <a:ext cx="10972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4527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24912" y="13533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724912" y="16642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24912" y="19751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E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22192" y="1755648"/>
            <a:ext cx="128016" cy="0"/>
          </a:xfrm>
          <a:prstGeom prst="line">
            <a:avLst/>
          </a:prstGeom>
          <a:noFill/>
          <a:ln w="19050">
            <a:solidFill>
              <a:srgbClr val="9EB3C8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3950208" y="1298448"/>
            <a:ext cx="10972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950208" y="13533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950208" y="16642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950208" y="19751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E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47488" y="1755648"/>
            <a:ext cx="128016" cy="0"/>
          </a:xfrm>
          <a:prstGeom prst="line">
            <a:avLst/>
          </a:prstGeom>
          <a:noFill/>
          <a:ln w="19050">
            <a:solidFill>
              <a:srgbClr val="9EB3C8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5175504" y="1298448"/>
            <a:ext cx="10972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75504" y="13533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175504" y="16642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75504" y="19751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E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272784" y="1755648"/>
            <a:ext cx="128016" cy="0"/>
          </a:xfrm>
          <a:prstGeom prst="line">
            <a:avLst/>
          </a:prstGeom>
          <a:noFill/>
          <a:ln w="19050">
            <a:solidFill>
              <a:srgbClr val="9EB3C8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6400800" y="1298448"/>
            <a:ext cx="10972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0" y="13533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400800" y="16642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0" y="19751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E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498080" y="1755648"/>
            <a:ext cx="128016" cy="0"/>
          </a:xfrm>
          <a:prstGeom prst="line">
            <a:avLst/>
          </a:prstGeom>
          <a:noFill/>
          <a:ln w="19050">
            <a:solidFill>
              <a:srgbClr val="9EB3C8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7626096" y="1298448"/>
            <a:ext cx="10972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626096" y="13533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626096" y="16642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626096" y="19751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E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 Deploy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02336" y="2340864"/>
            <a:ext cx="833932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2336" y="2340864"/>
            <a:ext cx="54864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0352" y="2404872"/>
            <a:ext cx="25603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2404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59536" y="2377440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Agent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231136" y="2359152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with Fibonacci estimates, acceptance criteria, risk levels, auth labels (JWT / Basic Auth via Apigee / Public)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54496" y="239572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Copilot: /create-story  |  Claude: story-helper agent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02336" y="2788920"/>
            <a:ext cx="8339328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2336" y="2788920"/>
            <a:ext cx="54864" cy="402336"/>
          </a:xfrm>
          <a:prstGeom prst="rect">
            <a:avLst/>
          </a:prstGeom>
          <a:solidFill>
            <a:srgbClr val="4527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0352" y="2852928"/>
            <a:ext cx="256032" cy="256032"/>
          </a:xfrm>
          <a:prstGeom prst="rect">
            <a:avLst/>
          </a:prstGeom>
          <a:solidFill>
            <a:srgbClr val="4527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0352" y="2852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59536" y="2825496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Agent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2231136" y="2807208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boundaries, API contracts (OpenAPI), data models, Apigee impact, GKE resource changes needed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254496" y="284378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Copilot and Claude read .claude/context/apis.md + deps.md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02336" y="3236976"/>
            <a:ext cx="833932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02336" y="3236976"/>
            <a:ext cx="54864" cy="402336"/>
          </a:xfrm>
          <a:prstGeom prst="rect">
            <a:avLst/>
          </a:prstGeom>
          <a:solidFill>
            <a:srgbClr val="0083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0352" y="3300984"/>
            <a:ext cx="256032" cy="256032"/>
          </a:xfrm>
          <a:prstGeom prst="rect">
            <a:avLst/>
          </a:prstGeom>
          <a:solidFill>
            <a:srgbClr val="0083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0352" y="3300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59536" y="3273552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2231136" y="3255264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breakdown with dependency ordering, parallel tracks (backend vs frontend), definition of done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254496" y="329184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Copilot: /create-story  |  Claude: .claude/agents/story-helper.md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02336" y="3685032"/>
            <a:ext cx="8339328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02336" y="3685032"/>
            <a:ext cx="54864" cy="402336"/>
          </a:xfrm>
          <a:prstGeom prst="rect">
            <a:avLst/>
          </a:prstGeom>
          <a:solidFill>
            <a:srgbClr val="E651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0352" y="3749040"/>
            <a:ext cx="256032" cy="256032"/>
          </a:xfrm>
          <a:prstGeom prst="rect">
            <a:avLst/>
          </a:prstGeom>
          <a:solidFill>
            <a:srgbClr val="E651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0352" y="3749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59536" y="3721608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Agent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2231136" y="3703320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PRs. Reads CodeFixes/ for known issues. Runs mvn test after each story. Retries 3x on failure.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254496" y="373989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(primary)  |  Copilot inline suggestions follow copilot-instructions.md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02336" y="4133088"/>
            <a:ext cx="833932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02336" y="4133088"/>
            <a:ext cx="54864" cy="402336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30352" y="4197096"/>
            <a:ext cx="25603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0352" y="4197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59536" y="4169664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Agent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2231136" y="4151376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tests (matching your JUnit version), @WebMvcTest with Apigee headers, Playwright E2E (UI + API + Customer contracts)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254496" y="418795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.claude/context/tests.md defines JUnit version, base class, H2 vs TestContainers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02336" y="4581144"/>
            <a:ext cx="8339328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02336" y="4581144"/>
            <a:ext cx="54864" cy="402336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30352" y="4645152"/>
            <a:ext cx="256032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30352" y="4645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859536" y="4617720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Agent → GKE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2231136" y="4599432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Dockerfile, K8s manifests, GitHub Actions CI/CD, GKE_READINESS checklist, blue-green deploy + smoke tests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6254496" y="463600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.claude/context/gke.md  |  Copilot: /review-change on manifests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2286000" cy="219456"/>
          </a:xfrm>
          <a:prstGeom prst="rect">
            <a:avLst/>
          </a:prstGeom>
          <a:solidFill>
            <a:srgbClr val="1565C0">
              <a:alpha val="13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TRADE-OFFS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75488" y="49377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AI-Assisted SDLC — Benefits and Constraints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5488" y="1069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choice for teams starting their AI journey or working in highly regulated environments.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02336" y="1261872"/>
            <a:ext cx="4059936" cy="35661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2336" y="1261872"/>
            <a:ext cx="4059936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801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Benefits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" y="170078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human control at every step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12064" y="217627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correct if agent misunderstands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12064" y="26517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learning curve — use Copilot or Claude, your choice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2064" y="312724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existing Jira and GitHub processes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2064" y="360273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onboarding — reasoning is fully visible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12064" y="407822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regulated or highly sensitive work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18304" y="1261872"/>
            <a:ext cx="4023360" cy="35661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18304" y="1261872"/>
            <a:ext cx="402336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280160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Constraints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28032" y="1700784"/>
            <a:ext cx="3803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human to trigger each step manually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28032" y="2176272"/>
            <a:ext cx="3803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can be lost between agent sessions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28032" y="2651760"/>
            <a:ext cx="3803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steps mean incomplete or wrong output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28032" y="3127248"/>
            <a:ext cx="3803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token optimisation across phases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28032" y="3602736"/>
            <a:ext cx="3803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run overnight or unattended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28032" y="4078224"/>
            <a:ext cx="3803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solves all of these — when you're ready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02336" y="4864608"/>
            <a:ext cx="8339328" cy="182880"/>
          </a:xfrm>
          <a:prstGeom prst="rect">
            <a:avLst/>
          </a:prstGeom>
          <a:solidFill>
            <a:srgbClr val="1565C0">
              <a:alpha val="1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864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Manual SDLC and the Queen Agent Orchestration work with GitHub Copilot and Claude Code — same agents, same context files.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0"/>
            <a:ext cx="2651760" cy="5143500"/>
          </a:xfrm>
          <a:prstGeom prst="rect">
            <a:avLst/>
          </a:prstGeom>
          <a:solidFill>
            <a:srgbClr val="1D4B7C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182880"/>
            <a:ext cx="2377440" cy="219456"/>
          </a:xfrm>
          <a:prstGeom prst="rect">
            <a:avLst/>
          </a:prstGeom>
          <a:solidFill>
            <a:srgbClr val="00ACC1">
              <a:alpha val="13000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1828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QUEEN AGENT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75488" y="51206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Queen Agent Orchestrates Everything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75488" y="1078992"/>
            <a:ext cx="5760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provide the Epic. Queen handles every phase — autonomously, with token optimisation, pausing only at human gates.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Claude-compatible or Copilot Agent runner.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02336" y="1719072"/>
            <a:ext cx="804672" cy="530352"/>
          </a:xfrm>
          <a:prstGeom prst="rect">
            <a:avLst/>
          </a:prstGeom>
          <a:solidFill>
            <a:srgbClr val="42A5F5">
              <a:alpha val="15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73736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02336" y="19933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provide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207008" y="1993392"/>
            <a:ext cx="128016" cy="0"/>
          </a:xfrm>
          <a:prstGeom prst="line">
            <a:avLst/>
          </a:prstGeom>
          <a:noFill/>
          <a:ln w="12700">
            <a:solidFill>
              <a:srgbClr val="4B6980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1335024" y="1719072"/>
            <a:ext cx="804672" cy="530352"/>
          </a:xfrm>
          <a:prstGeom prst="rect">
            <a:avLst/>
          </a:prstGeom>
          <a:solidFill>
            <a:srgbClr val="00ACC1">
              <a:alpha val="15000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35024" y="173736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Gen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35024" y="19933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39696" y="1993392"/>
            <a:ext cx="128016" cy="0"/>
          </a:xfrm>
          <a:prstGeom prst="line">
            <a:avLst/>
          </a:prstGeom>
          <a:noFill/>
          <a:ln w="12700">
            <a:solidFill>
              <a:srgbClr val="4B6980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2267712" y="1719072"/>
            <a:ext cx="804672" cy="658368"/>
          </a:xfrm>
          <a:prstGeom prst="rect">
            <a:avLst/>
          </a:prstGeom>
          <a:solidFill>
            <a:srgbClr val="FFA000">
              <a:alpha val="32000"/>
            </a:srgbClr>
          </a:solidFill>
          <a:ln w="25400">
            <a:solidFill>
              <a:srgbClr val="FFA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7712" y="173736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67712" y="208483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072384" y="1993392"/>
            <a:ext cx="128016" cy="0"/>
          </a:xfrm>
          <a:prstGeom prst="line">
            <a:avLst/>
          </a:prstGeom>
          <a:noFill/>
          <a:ln w="12700">
            <a:solidFill>
              <a:srgbClr val="4B6980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3200400" y="1719072"/>
            <a:ext cx="804672" cy="530352"/>
          </a:xfrm>
          <a:prstGeom prst="rect">
            <a:avLst/>
          </a:prstGeom>
          <a:solidFill>
            <a:srgbClr val="9575CD">
              <a:alpha val="15000"/>
            </a:srgbClr>
          </a:solidFill>
          <a:ln w="12700">
            <a:solidFill>
              <a:srgbClr val="9575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173736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0" y="19933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005072" y="1993392"/>
            <a:ext cx="128016" cy="0"/>
          </a:xfrm>
          <a:prstGeom prst="line">
            <a:avLst/>
          </a:prstGeom>
          <a:noFill/>
          <a:ln w="12700">
            <a:solidFill>
              <a:srgbClr val="4B6980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4133088" y="1719072"/>
            <a:ext cx="804672" cy="530352"/>
          </a:xfrm>
          <a:prstGeom prst="rect">
            <a:avLst/>
          </a:prstGeom>
          <a:solidFill>
            <a:srgbClr val="00ACC1">
              <a:alpha val="15000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33088" y="173736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33088" y="19933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937760" y="1993392"/>
            <a:ext cx="128016" cy="0"/>
          </a:xfrm>
          <a:prstGeom prst="line">
            <a:avLst/>
          </a:prstGeom>
          <a:noFill/>
          <a:ln w="12700">
            <a:solidFill>
              <a:srgbClr val="4B6980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5065776" y="1719072"/>
            <a:ext cx="804672" cy="530352"/>
          </a:xfrm>
          <a:prstGeom prst="rect">
            <a:avLst/>
          </a:prstGeom>
          <a:solidFill>
            <a:srgbClr val="F57C00">
              <a:alpha val="15000"/>
            </a:srgbClr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65776" y="173736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65776" y="19933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870448" y="1993392"/>
            <a:ext cx="128016" cy="0"/>
          </a:xfrm>
          <a:prstGeom prst="line">
            <a:avLst/>
          </a:prstGeom>
          <a:noFill/>
          <a:ln w="12700">
            <a:solidFill>
              <a:srgbClr val="4B6980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5998464" y="1719072"/>
            <a:ext cx="804672" cy="530352"/>
          </a:xfrm>
          <a:prstGeom prst="rect">
            <a:avLst/>
          </a:prstGeom>
          <a:solidFill>
            <a:srgbClr val="66BB6A">
              <a:alpha val="15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98464" y="173736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98464" y="19933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03136" y="1993392"/>
            <a:ext cx="128016" cy="0"/>
          </a:xfrm>
          <a:prstGeom prst="line">
            <a:avLst/>
          </a:prstGeom>
          <a:noFill/>
          <a:ln w="12700">
            <a:solidFill>
              <a:srgbClr val="4B6980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6931152" y="1719072"/>
            <a:ext cx="804672" cy="658368"/>
          </a:xfrm>
          <a:prstGeom prst="rect">
            <a:avLst/>
          </a:prstGeom>
          <a:solidFill>
            <a:srgbClr val="FFA000">
              <a:alpha val="32000"/>
            </a:srgbClr>
          </a:solidFill>
          <a:ln w="25400">
            <a:solidFill>
              <a:srgbClr val="FFA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31152" y="173736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31152" y="208483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Deploy?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735824" y="1993392"/>
            <a:ext cx="128016" cy="0"/>
          </a:xfrm>
          <a:prstGeom prst="line">
            <a:avLst/>
          </a:prstGeom>
          <a:noFill/>
          <a:ln w="12700">
            <a:solidFill>
              <a:srgbClr val="4B6980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7863840" y="1719072"/>
            <a:ext cx="804672" cy="530352"/>
          </a:xfrm>
          <a:prstGeom prst="rect">
            <a:avLst/>
          </a:prstGeom>
          <a:solidFill>
            <a:srgbClr val="42A5F5">
              <a:alpha val="15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3840" y="173736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863840" y="19933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02336" y="2633472"/>
            <a:ext cx="2706624" cy="2304288"/>
          </a:xfrm>
          <a:prstGeom prst="rect">
            <a:avLst/>
          </a:prstGeom>
          <a:solidFill>
            <a:srgbClr val="133056"/>
          </a:solidFill>
          <a:ln w="12700">
            <a:solidFill>
              <a:srgbClr val="1D4B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12064" y="26883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1042416" y="2706624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Between Phases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12064" y="3236976"/>
            <a:ext cx="25054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previous agent output before starting next. Consistent context, no dropped info across the entire pipeline.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255264" y="2633472"/>
            <a:ext cx="2706624" cy="2304288"/>
          </a:xfrm>
          <a:prstGeom prst="rect">
            <a:avLst/>
          </a:prstGeom>
          <a:solidFill>
            <a:srgbClr val="133056"/>
          </a:solidFill>
          <a:ln w="12700">
            <a:solidFill>
              <a:srgbClr val="1D4B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364992" y="26883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🪙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3895344" y="2706624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Optimisation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3364992" y="3236976"/>
            <a:ext cx="25054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only the context files each phase needs. 10x fewer tokens than re-reading source code every question.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08192" y="2633472"/>
            <a:ext cx="2706624" cy="2304288"/>
          </a:xfrm>
          <a:prstGeom prst="rect">
            <a:avLst/>
          </a:prstGeom>
          <a:solidFill>
            <a:srgbClr val="133056"/>
          </a:solidFill>
          <a:ln w="12700">
            <a:solidFill>
              <a:srgbClr val="1D4B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217920" y="26883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6748272" y="2706624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Human Gates Only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217920" y="3236976"/>
            <a:ext cx="25054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approval, architecture approval, deploy approval. Everything else runs unattended — including overnight.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0" y="4809744"/>
            <a:ext cx="9144000" cy="333756"/>
          </a:xfrm>
          <a:prstGeom prst="rect">
            <a:avLst/>
          </a:prstGeom>
          <a:solidFill>
            <a:srgbClr val="0083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809744"/>
            <a:ext cx="82296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Epic → Deployed app in ~3–4 hours. Your involvement: 3 approvals, ~30 minutes. Works in Copilot Agent + Claude Code.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2377440" cy="219456"/>
          </a:xfrm>
          <a:prstGeom prst="rect">
            <a:avLst/>
          </a:prstGeom>
          <a:solidFill>
            <a:srgbClr val="00838F">
              <a:alpha val="13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AGENT ROLES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75488" y="49377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Agent Does in the Orchestra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5488" y="1069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specialised agents + one Queen. Each has one job. All run in GitHub Copilot Agent mode or Claude Code.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2779776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54864" cy="1682496"/>
          </a:xfrm>
          <a:prstGeom prst="rect">
            <a:avLst/>
          </a:prstGeom>
          <a:solidFill>
            <a:srgbClr val="FF8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3502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👑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50976" y="1335024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 Agent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50976" y="1591056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1828800"/>
            <a:ext cx="25968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pipeline state. Decides next step. Passes output between agents. Invokes human gates. Never guesses — always reasons from context.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" y="2706624"/>
            <a:ext cx="2187245" cy="219456"/>
          </a:xfrm>
          <a:prstGeom prst="rect">
            <a:avLst/>
          </a:prstGeom>
          <a:solidFill>
            <a:srgbClr val="FF8F00">
              <a:alpha val="13000"/>
            </a:srgbClr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706624"/>
            <a:ext cx="21872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Complete SDLC delivery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10128" y="1261872"/>
            <a:ext cx="2779776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10128" y="1261872"/>
            <a:ext cx="54864" cy="1682496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9856" y="133502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95344" y="1335024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Agent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895344" y="1591056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19856" y="1828800"/>
            <a:ext cx="25968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Epic + SERVICE_PROFILE + auth.md. Generates user stories with Fibonacci estimates, acceptance criteria, auth labels (Apigee/JWT), risk levels.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19856" y="2706624"/>
            <a:ext cx="2267712" cy="219456"/>
          </a:xfrm>
          <a:prstGeom prst="rect">
            <a:avLst/>
          </a:prstGeom>
          <a:solidFill>
            <a:srgbClr val="1565C0">
              <a:alpha val="13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9856" y="2706624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Type A + B Jira stories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54496" y="1261872"/>
            <a:ext cx="2779776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54496" y="1261872"/>
            <a:ext cx="54864" cy="1682496"/>
          </a:xfrm>
          <a:prstGeom prst="rect">
            <a:avLst/>
          </a:prstGeom>
          <a:solidFill>
            <a:srgbClr val="4527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4224" y="133502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39712" y="1335024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Agent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839712" y="1591056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64224" y="1828800"/>
            <a:ext cx="25968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stories + deps.md. Designs service boundaries, API contracts, data models. Checks Apigee and GKE impact against existing patterns.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64224" y="2706624"/>
            <a:ext cx="1623974" cy="219456"/>
          </a:xfrm>
          <a:prstGeom prst="rect">
            <a:avLst/>
          </a:prstGeom>
          <a:solidFill>
            <a:srgbClr val="4527A0">
              <a:alpha val="13000"/>
            </a:srgbClr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4224" y="2706624"/>
            <a:ext cx="16239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ARCHITECTURE.md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090672"/>
            <a:ext cx="2779776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090672"/>
            <a:ext cx="54864" cy="1682496"/>
          </a:xfrm>
          <a:prstGeom prst="rect">
            <a:avLst/>
          </a:prstGeom>
          <a:solidFill>
            <a:srgbClr val="E651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16382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50976" y="3163824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Agent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50976" y="3419856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Dev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" y="3657600"/>
            <a:ext cx="25968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story by story. Reads CLAUDE.md + CodeFixes. Follows exact patterns. Runs mvn test after each story. Retries on failure (3x).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" y="4535424"/>
            <a:ext cx="1221638" cy="219456"/>
          </a:xfrm>
          <a:prstGeom prst="rect">
            <a:avLst/>
          </a:prstGeom>
          <a:solidFill>
            <a:srgbClr val="E65100">
              <a:alpha val="13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4535424"/>
            <a:ext cx="12216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Code + PRs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10128" y="3090672"/>
            <a:ext cx="2779776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310128" y="3090672"/>
            <a:ext cx="54864" cy="1682496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19856" y="316382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3895344" y="3163824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Agent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3895344" y="3419856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419856" y="3657600"/>
            <a:ext cx="25968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JUnit tests (matching your JUnit version), controller tests with Apigee headers, Playwright E2E (UI + API + customer contracts). 80% coverage target.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419856" y="4535424"/>
            <a:ext cx="1623974" cy="219456"/>
          </a:xfrm>
          <a:prstGeom prst="rect">
            <a:avLst/>
          </a:prstGeom>
          <a:solidFill>
            <a:srgbClr val="2E7D32">
              <a:alpha val="13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19856" y="4535424"/>
            <a:ext cx="16239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Full test suite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54496" y="3090672"/>
            <a:ext cx="2779776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54496" y="3090672"/>
            <a:ext cx="54864" cy="1682496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64224" y="316382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6839712" y="3163824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Agent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6839712" y="3419856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64224" y="3657600"/>
            <a:ext cx="25968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K8s manifests, GitHub Actions pipeline, GKE_READINESS checks, smoke tests. Rollback on failure. Blue-green deploy.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364224" y="4535424"/>
            <a:ext cx="1302106" cy="219456"/>
          </a:xfrm>
          <a:prstGeom prst="rect">
            <a:avLst/>
          </a:prstGeom>
          <a:solidFill>
            <a:srgbClr val="C62828">
              <a:alpha val="13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64224" y="4535424"/>
            <a:ext cx="13021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Live on GKE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2651760" cy="219456"/>
          </a:xfrm>
          <a:prstGeom prst="rect">
            <a:avLst/>
          </a:prstGeom>
          <a:solidFill>
            <a:srgbClr val="00838F">
              <a:alpha val="13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WORKED EXAMPLE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75488" y="49377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Add Order Status Notifications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5488" y="1069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to GKE — showing every agent handoff. Runs in Copilot Agent mode or Claude Code autonomously.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8412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298448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60704" y="1335024"/>
            <a:ext cx="1188720" cy="237744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3350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22576" y="12984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Epic into Queen Agent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91456" y="12984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push notifications when mortgage order status changes. CustomerA integration required."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719072"/>
            <a:ext cx="841248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755648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T+5m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60704" y="1792224"/>
            <a:ext cx="1188720" cy="237744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17922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Agent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22576" y="1755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docs, generates stories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91456" y="17556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stories generated. US-E001 [Existing] Order Status API — 5pt HIGH JWT. US-G001 [Add] Notification integration — 8pt P1.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176272"/>
            <a:ext cx="8412480" cy="402336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212848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T+12m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60704" y="2249424"/>
            <a:ext cx="1188720" cy="237744"/>
          </a:xfrm>
          <a:prstGeom prst="rect">
            <a:avLst/>
          </a:prstGeom>
          <a:solidFill>
            <a:srgbClr val="FF8F00">
              <a:alpha val="15000"/>
            </a:srgbClr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22494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GATE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22576" y="22128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approve stories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91456" y="22128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"14 stories, 52 story points. Confirm to proceed to architecture?"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633472"/>
            <a:ext cx="841248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2670048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T+15m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60704" y="2706624"/>
            <a:ext cx="1188720" cy="237744"/>
          </a:xfrm>
          <a:prstGeom prst="rect">
            <a:avLst/>
          </a:prstGeom>
          <a:solidFill>
            <a:srgbClr val="4527A0">
              <a:alpha val="15000"/>
            </a:srgbClr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0704" y="27066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22576" y="26700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deps.md + apis.md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91456" y="26700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Designs: order-service → RabbitMQ → notification-service. No schema change needed. JWT Pattern B.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090672"/>
            <a:ext cx="8412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" y="3127248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T+45m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60704" y="3163824"/>
            <a:ext cx="1188720" cy="237744"/>
          </a:xfrm>
          <a:prstGeom prst="rect">
            <a:avLst/>
          </a:prstGeom>
          <a:solidFill>
            <a:srgbClr val="E65100">
              <a:alpha val="15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0704" y="31638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Agent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322576" y="31272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story by story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91456" y="31272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NotificationService, OrderEventPublisher. Reads CodeFixes: FIX-003 timeout missing — applies fix first.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3547872"/>
            <a:ext cx="841248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3584448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60704" y="3621024"/>
            <a:ext cx="1188720" cy="237744"/>
          </a:xfrm>
          <a:prstGeom prst="rect">
            <a:avLst/>
          </a:prstGeom>
          <a:solidFill>
            <a:srgbClr val="2E7D32">
              <a:alpha val="1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0704" y="36210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Agent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322576" y="35844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 suite generated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91456" y="35844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JUnit tests, 82% coverage. Playwright: 4 E2E including CustomerA contract test for order webhook.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4005072"/>
            <a:ext cx="8412480" cy="402336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336" y="4041648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T+2.5h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060704" y="4078224"/>
            <a:ext cx="1188720" cy="237744"/>
          </a:xfrm>
          <a:prstGeom prst="rect">
            <a:avLst/>
          </a:prstGeom>
          <a:solidFill>
            <a:srgbClr val="FF8F00">
              <a:alpha val="15000"/>
            </a:srgbClr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0704" y="40782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GATE 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322576" y="4041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approve deploy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791456" y="40416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 tests pass. 82% coverage. CustomerA contract: PASS. Ready for GKE staging deploy?"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" y="4462272"/>
            <a:ext cx="841248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2336" y="4498848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T+3h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60704" y="4535424"/>
            <a:ext cx="1188720" cy="237744"/>
          </a:xfrm>
          <a:prstGeom prst="rect">
            <a:avLst/>
          </a:prstGeom>
          <a:solidFill>
            <a:srgbClr val="00838F">
              <a:alpha val="15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60704" y="45354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Agent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322576" y="44988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GKE + smoke tests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791456" y="44988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build, push to Artifact Registry, kubectl apply, smoke: POST /orders ✅ webhook ✅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3108960" cy="219456"/>
          </a:xfrm>
          <a:prstGeom prst="rect">
            <a:avLst/>
          </a:prstGeom>
          <a:solidFill>
            <a:srgbClr val="E65100">
              <a:alpha val="13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LEGACY INTELLIGENCE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75488" y="420624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Four Agents for Legacy Code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75488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the spike story bottleneck. Scan → Document → Ask → Fix → Generate Stories. All in one session.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243584"/>
            <a:ext cx="8412480" cy="420624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618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Reality: Your legacy services have years of tribal knowledge locked in undocumented Java. Phase 3 gives you institutional memory before any change — and eliminates spike stories entirely.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810512"/>
            <a:ext cx="416966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10512"/>
            <a:ext cx="4169664" cy="420624"/>
          </a:xfrm>
          <a:prstGeom prst="rect">
            <a:avLst/>
          </a:prstGeom>
          <a:solidFill>
            <a:srgbClr val="E651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470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59536" y="18562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Archaeology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152851" y="1920240"/>
            <a:ext cx="1309421" cy="201168"/>
          </a:xfrm>
          <a:prstGeom prst="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2851" y="1920240"/>
            <a:ext cx="130942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+ Claude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2286000"/>
            <a:ext cx="23774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entire repo. Writes 17+ small focused files — one concern per file, under 80 lines each. Works in both Copilot Chat (@workspace) and Claude Code.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44368" y="228600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SERVICE_PROFILE.md — what this service is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44368" y="248716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auth.md — Apigee + JWT model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944368" y="2688336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gke.md — K8s config snapshot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944368" y="288950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deps.md — inter-service blast radius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44368" y="3090672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tests.md — JUnit version, coverage state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18304" y="1810512"/>
            <a:ext cx="416966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18304" y="1810512"/>
            <a:ext cx="4169664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744" y="18470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12080" y="18562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Generator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78701" y="1920240"/>
            <a:ext cx="1836115" cy="201168"/>
          </a:xfrm>
          <a:prstGeom prst="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78701" y="1920240"/>
            <a:ext cx="18361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Spike Stories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28032" y="2286000"/>
            <a:ext cx="23774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archaeology docs and generates stories directly from CODE — no spike story needed. Type A (existing behaviour) + Type B (gaps). Run from Copilot /create-story or Claude story-helper agent.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296912" y="228600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A: existing endpoints as stories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296912" y="248716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B: P1 security gaps, P2 coverage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296912" y="2688336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estimates from code complexity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296912" y="288950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from deps.md contracts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296912" y="3090672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Jira-ready format with auth labels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3474720"/>
            <a:ext cx="416966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474720"/>
            <a:ext cx="4169664" cy="420624"/>
          </a:xfrm>
          <a:prstGeom prst="rect">
            <a:avLst/>
          </a:prstGeom>
          <a:solidFill>
            <a:srgbClr val="4527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51129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59536" y="3520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QA Agent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296973" y="3584448"/>
            <a:ext cx="2165299" cy="201168"/>
          </a:xfrm>
          <a:prstGeom prst="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96973" y="3584448"/>
            <a:ext cx="21652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NotebookLM for Your Code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5488" y="3950208"/>
            <a:ext cx="23774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any developer question from the context docs — no re-scanning. Ask from Copilot Chat or Claude. Works inside your IDE, not an external tab. Your code never leaves your workspace.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944368" y="395020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'Is it safe to change X?' → risk level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944368" y="4151376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'How does auth work?' → Pattern A/B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944368" y="435254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'How do I write a test?' → JUnit pattern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944368" y="4553712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'Story points for X?' → estimate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944368" y="475488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'What's broken in GKE?' → ❌ checks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18304" y="3474720"/>
            <a:ext cx="416966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18304" y="3474720"/>
            <a:ext cx="4169664" cy="420624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9744" y="351129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5212080" y="3520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CodeFixes Folder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978701" y="3584448"/>
            <a:ext cx="1836115" cy="201168"/>
          </a:xfrm>
          <a:prstGeom prst="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78701" y="3584448"/>
            <a:ext cx="18361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Fixes, Exact Lines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28032" y="3950208"/>
            <a:ext cx="23774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risky finding. Contains exact file path, line number, current code block, suggested replacement code, and a 'why this is safe' section. Never auto-applies — developer reviews each.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296912" y="395020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FIX-001: Missing @Valid (P1 Security)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296912" y="4151376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FIX-002: JVM OOM risk (P1 GKE)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296912" y="435254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FIX-003: No HTTP timeout (P2)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296912" y="4553712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FIX-NNN: …one file per finding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296912" y="475488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_INDEX.md: all findings by severity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2926080" cy="219456"/>
          </a:xfrm>
          <a:prstGeom prst="rect">
            <a:avLst/>
          </a:prstGeom>
          <a:solidFill>
            <a:srgbClr val="E65100">
              <a:alpha val="13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SPIKE ELIMINATION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75488" y="49377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Spike Story → Code Analysis → Story Generation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5488" y="1069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your team runs today — replaced. No spike, no manual analysis, no assumption-based stories.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4059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(Manual Spike — 2–3 days)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 assigned spike story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 days reading 50k lines of code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Ask 3 engineers for context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797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Write rough notes in Confluence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82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 writes stories from the notes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5844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Stories miss edge cases + auth risks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9867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Sprint estimate is a guess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Total: 2–3 days, still incomplete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1261872"/>
            <a:ext cx="0" cy="3584448"/>
          </a:xfrm>
          <a:prstGeom prst="line">
            <a:avLst/>
          </a:prstGeom>
          <a:noFill/>
          <a:ln w="12700">
            <a:solidFill>
              <a:srgbClr val="D4E0EC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663440" y="12618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(Code Archaeology + Story Generator — 30 min)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73168" y="157276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Open service in VS Code (or terminal)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73168" y="197510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Run Code Archaeology  (15 min, read-only)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73168" y="237744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6 tiny context files written to repo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2779776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Ask Repo QA: 'what does this service do?'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318211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Ask Repo QA: 'is it safe to change X?'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73168" y="358444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Run Story Generator: 'create stories from docs'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73168" y="39867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Stories include auth model, risk, estimates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73168" y="438912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Total: 30 min, production-accurate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solidFill>
            <a:srgbClr val="0A23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per sprint: ~2 days per service → ~40 dev-days saved per year for a 10-service team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3291840" cy="219456"/>
          </a:xfrm>
          <a:prstGeom prst="rect">
            <a:avLst/>
          </a:prstGeom>
          <a:solidFill>
            <a:srgbClr val="4527A0">
              <a:alpha val="13000"/>
            </a:srgbClr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REPO QA VS NOTEBOOKLM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75488" y="42062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QA Agent vs Google NotebookLM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5488" y="978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QA lives in your IDE. Reads your actual code. Your data never leaves your workspace.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2194560" cy="320040"/>
          </a:xfrm>
          <a:prstGeom prst="rect">
            <a:avLst/>
          </a:prstGeom>
          <a:solidFill>
            <a:srgbClr val="0A2342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2529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96896" y="1225296"/>
            <a:ext cx="3127248" cy="320040"/>
          </a:xfrm>
          <a:prstGeom prst="rect">
            <a:avLst/>
          </a:prstGeom>
          <a:solidFill>
            <a:srgbClr val="0D5C2E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88336" y="12252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QA Agent (Copilot + Claude)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1225296"/>
            <a:ext cx="2834640" cy="320040"/>
          </a:xfrm>
          <a:prstGeom prst="rect">
            <a:avLst/>
          </a:prstGeom>
          <a:solidFill>
            <a:srgbClr val="5C1A35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225296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NotebookLM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572768"/>
            <a:ext cx="2194560" cy="320040"/>
          </a:xfrm>
          <a:prstGeom prst="rect">
            <a:avLst/>
          </a:prstGeom>
          <a:solidFill>
            <a:srgbClr val="F7F9FC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57276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96896" y="1572768"/>
            <a:ext cx="3127248" cy="320040"/>
          </a:xfrm>
          <a:prstGeom prst="rect">
            <a:avLst/>
          </a:prstGeom>
          <a:solidFill>
            <a:srgbClr val="F7F9FC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88336" y="1572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IDE / same workspace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1572768"/>
            <a:ext cx="2834640" cy="320040"/>
          </a:xfrm>
          <a:prstGeom prst="rect">
            <a:avLst/>
          </a:prstGeom>
          <a:solidFill>
            <a:srgbClr val="F7F9FC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1572768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browser tab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920240"/>
            <a:ext cx="21945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92024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repository access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96896" y="1920240"/>
            <a:ext cx="312724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88336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— reads your actual files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1920240"/>
            <a:ext cx="28346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192024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upload Git repos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267712"/>
            <a:ext cx="2194560" cy="320040"/>
          </a:xfrm>
          <a:prstGeom prst="rect">
            <a:avLst/>
          </a:prstGeom>
          <a:solidFill>
            <a:srgbClr val="F7F9FC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26771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model awareness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96896" y="2267712"/>
            <a:ext cx="3127248" cy="320040"/>
          </a:xfrm>
          <a:prstGeom prst="rect">
            <a:avLst/>
          </a:prstGeom>
          <a:solidFill>
            <a:srgbClr val="F7F9FC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88336" y="2267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your Apigee + JWT patterns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60720" y="2267712"/>
            <a:ext cx="2834640" cy="320040"/>
          </a:xfrm>
          <a:prstGeom prst="rect">
            <a:avLst/>
          </a:prstGeom>
          <a:solidFill>
            <a:srgbClr val="F7F9FC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2267712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— no context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2615184"/>
            <a:ext cx="21945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61518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source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96896" y="2615184"/>
            <a:ext cx="312724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88336" y="26151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scanned code (accurate)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60720" y="2615184"/>
            <a:ext cx="28346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2615184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uploaded docs only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962656"/>
            <a:ext cx="2194560" cy="320040"/>
          </a:xfrm>
          <a:prstGeom prst="rect">
            <a:avLst/>
          </a:prstGeom>
          <a:solidFill>
            <a:srgbClr val="F7F9FC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96265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compatibility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96896" y="2962656"/>
            <a:ext cx="3127248" cy="320040"/>
          </a:xfrm>
          <a:prstGeom prst="rect">
            <a:avLst/>
          </a:prstGeom>
          <a:solidFill>
            <a:srgbClr val="F7F9FC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88336" y="29626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+ Claude Code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760720" y="2962656"/>
            <a:ext cx="2834640" cy="320040"/>
          </a:xfrm>
          <a:prstGeom prst="rect">
            <a:avLst/>
          </a:prstGeom>
          <a:solidFill>
            <a:srgbClr val="F7F9FC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52160" y="2962656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 integration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3310128"/>
            <a:ext cx="21945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31012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CodeFixes integration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596896" y="3310128"/>
            <a:ext cx="312724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88336" y="3310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exact fix files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760720" y="3310128"/>
            <a:ext cx="28346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52160" y="3310128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fix capability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3657600"/>
            <a:ext cx="2194560" cy="320040"/>
          </a:xfrm>
          <a:prstGeom prst="rect">
            <a:avLst/>
          </a:prstGeom>
          <a:solidFill>
            <a:srgbClr val="F7F9FC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365760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on code change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596896" y="3657600"/>
            <a:ext cx="3127248" cy="320040"/>
          </a:xfrm>
          <a:prstGeom prst="rect">
            <a:avLst/>
          </a:prstGeom>
          <a:solidFill>
            <a:srgbClr val="F7F9FC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88336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archaeology, docs update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760720" y="3657600"/>
            <a:ext cx="2834640" cy="320040"/>
          </a:xfrm>
          <a:prstGeom prst="rect">
            <a:avLst/>
          </a:prstGeom>
          <a:solidFill>
            <a:srgbClr val="F7F9FC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52160" y="365760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re-upload every time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5760" y="4005072"/>
            <a:ext cx="21945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00507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agents / prompts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596896" y="4005072"/>
            <a:ext cx="312724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88336" y="40050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sub-agents, 4 slash commands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760720" y="4005072"/>
            <a:ext cx="28346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52160" y="4005072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agents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352544"/>
            <a:ext cx="2194560" cy="320040"/>
          </a:xfrm>
          <a:prstGeom prst="rect">
            <a:avLst/>
          </a:prstGeom>
          <a:solidFill>
            <a:srgbClr val="F7F9FC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435254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/ data residency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596896" y="4352544"/>
            <a:ext cx="3127248" cy="320040"/>
          </a:xfrm>
          <a:prstGeom prst="rect">
            <a:avLst/>
          </a:prstGeom>
          <a:solidFill>
            <a:srgbClr val="F7F9FC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88336" y="43525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leaves your environment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760720" y="4352544"/>
            <a:ext cx="2834640" cy="320040"/>
          </a:xfrm>
          <a:prstGeom prst="rect">
            <a:avLst/>
          </a:prstGeom>
          <a:solidFill>
            <a:srgbClr val="F7F9FC"/>
          </a:solidFill>
          <a:ln w="6350">
            <a:solidFill>
              <a:srgbClr val="D4E0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52160" y="4352544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goes to Google servers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solidFill>
            <a:srgbClr val="2E7D32">
              <a:alpha val="12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5488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advantage: Your code never leaves your workspace. Ask 'how does auth work?' — the answer comes from YOUR actual code, not a generic document.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3017520" cy="219456"/>
          </a:xfrm>
          <a:prstGeom prst="rect">
            <a:avLst/>
          </a:prstGeom>
          <a:solidFill>
            <a:srgbClr val="1565C0">
              <a:alpha val="13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+ CLAUDE — ONE BRAIN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75488" y="49377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Scan. Both Tools Trained. 17+ Small Files.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5488" y="1069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Archaeology writes into both tools' native agent locations — one source of truth, zero duplicate maintenance.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243584"/>
            <a:ext cx="418795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3350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repo-root/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6656" y="1581912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8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CLAUDE.md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32150" y="1618488"/>
            <a:ext cx="1302106" cy="164592"/>
          </a:xfrm>
          <a:prstGeom prst="rect">
            <a:avLst/>
          </a:prstGeom>
          <a:solidFill>
            <a:srgbClr val="D4800A">
              <a:alpha val="15000"/>
            </a:srgbClr>
          </a:solidFill>
          <a:ln w="12700">
            <a:solidFill>
              <a:srgbClr val="D48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32150" y="1618488"/>
            <a:ext cx="13021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48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auto-reads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76656" y="1828800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AGENTS.md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5498" y="1865376"/>
            <a:ext cx="1038758" cy="164592"/>
          </a:xfrm>
          <a:prstGeom prst="rect">
            <a:avLst/>
          </a:prstGeom>
          <a:solidFill>
            <a:srgbClr val="4527A0">
              <a:alpha val="15000"/>
            </a:srgbClr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5498" y="1865376"/>
            <a:ext cx="10387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+ Cursor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76656" y="2075688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.claude/context/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77824" y="232257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stack · patterns · auth · gke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7824" y="2569464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apis · deps · tests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6656" y="2816352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.claude/agents/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77824" y="3063240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archaeologist · reviewer · story-helper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6656" y="3310128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.github/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77824" y="355701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copilot-instructions.md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66314" y="3593592"/>
            <a:ext cx="1367942" cy="164592"/>
          </a:xfrm>
          <a:prstGeom prst="rect">
            <a:avLst/>
          </a:prstGeom>
          <a:solidFill>
            <a:srgbClr val="0D6B3A">
              <a:alpha val="15000"/>
            </a:srgbClr>
          </a:solidFill>
          <a:ln w="12700">
            <a:solidFill>
              <a:srgbClr val="0D6B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66314" y="3593592"/>
            <a:ext cx="136794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auto-reads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77824" y="3803904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prompts/ → /new-endpoint  /write-test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77824" y="4050792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prompts/ → /review-change  /create-story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6656" y="4297680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CodeFixes/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77824" y="4544568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_INDEX.md  FIX-001.md  FIX-002.md …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0016" y="1243584"/>
            <a:ext cx="4059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Tools Connect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00016" y="1609344"/>
            <a:ext cx="40599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0016" y="1609344"/>
            <a:ext cx="54864" cy="548640"/>
          </a:xfrm>
          <a:prstGeom prst="rect">
            <a:avLst/>
          </a:prstGeom>
          <a:solidFill>
            <a:srgbClr val="0D6B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166420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809744" y="192024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copilot-instructions.md → loads context/*.md → slash commands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0016" y="2286000"/>
            <a:ext cx="40599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0016" y="2286000"/>
            <a:ext cx="54864" cy="548640"/>
          </a:xfrm>
          <a:prstGeom prst="rect">
            <a:avLst/>
          </a:prstGeom>
          <a:solidFill>
            <a:srgbClr val="D480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9744" y="2340864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809744" y="259689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CLAUDE.md → loads context/*.md on demand → sub-agents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0016" y="2962656"/>
            <a:ext cx="40599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0016" y="2962656"/>
            <a:ext cx="54864" cy="548640"/>
          </a:xfrm>
          <a:prstGeom prst="rect">
            <a:avLst/>
          </a:prstGeom>
          <a:solidFill>
            <a:srgbClr val="4527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9744" y="301752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809744" y="3273552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open standard — Copilot + Claude + Cursor/Windsurf all read this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0016" y="3602736"/>
            <a:ext cx="4059936" cy="12984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28032" y="365760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One Source of Truth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28032" y="3968496"/>
            <a:ext cx="38221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auth.md once → both Copilot and Claude give the same answer.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under 80 lines. Load only what you need.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fewer tokens per session vs re-scanning source code.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2194560" cy="219456"/>
          </a:xfrm>
          <a:prstGeom prst="rect">
            <a:avLst/>
          </a:prstGeom>
          <a:solidFill>
            <a:srgbClr val="C62828">
              <a:alpha val="13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CODEFIXES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75488" y="49377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CodeFixes/ — Exact Findings, Exact Fixes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5488" y="1069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vague warnings. One file per issue: actual file path, line number, current code, suggested replacement, why it's safe.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243584"/>
            <a:ext cx="2798064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43584"/>
            <a:ext cx="2798064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298448"/>
            <a:ext cx="329184" cy="329184"/>
          </a:xfrm>
          <a:prstGeom prst="rect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77824" y="131673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177393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@Valid on customer endpoints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32257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 parsed in service (not at Apigee)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287121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secret in application.yml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341985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(email/phone) in plain log statements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1243584"/>
            <a:ext cx="2798064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243584"/>
            <a:ext cx="2798064" cy="438912"/>
          </a:xfrm>
          <a:prstGeom prst="rect">
            <a:avLst/>
          </a:prstGeom>
          <a:solidFill>
            <a:srgbClr val="E651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01568" y="1298448"/>
            <a:ext cx="329184" cy="329184"/>
          </a:xfrm>
          <a:prstGeom prst="rect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03904" y="131673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 Reliability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01568" y="177393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-Xmx &gt; 75% of container limit (OOM risk)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01568" y="232257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liveness/readiness probes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01568" y="287121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'latest' image tag in production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01568" y="341985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PodDisruptionBudget configured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1243584"/>
            <a:ext cx="2798064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243584"/>
            <a:ext cx="2798064" cy="438912"/>
          </a:xfrm>
          <a:prstGeom prst="rect">
            <a:avLst/>
          </a:prstGeom>
          <a:solidFill>
            <a:srgbClr val="FF8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27648" y="1298448"/>
            <a:ext cx="329184" cy="329184"/>
          </a:xfrm>
          <a:prstGeom prst="rect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29984" y="131673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Correctness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27648" y="177393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 query in JPA relationship fetch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27648" y="232257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 missing on multi-write service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27648" y="287121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call with no timeout set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27648" y="341985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Swallowed exception (empty catch block)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828032"/>
            <a:ext cx="8412480" cy="237744"/>
          </a:xfrm>
          <a:prstGeom prst="rect">
            <a:avLst/>
          </a:prstGeom>
          <a:solidFill>
            <a:srgbClr val="FFF0F0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FIX-NNN.md: exact file:line · method signature · current code block · suggested fix · 'why safe' section · verification checklist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1371600" cy="219456"/>
          </a:xfrm>
          <a:prstGeom prst="rect">
            <a:avLst/>
          </a:prstGeom>
          <a:solidFill>
            <a:srgbClr val="2E7D32">
              <a:alpha val="13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75488" y="49377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Concrete, Measurable Impact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5488" y="1069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metrics that compound over time across the team.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243584"/>
            <a:ext cx="2779776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43584"/>
            <a:ext cx="2779776" cy="384048"/>
          </a:xfrm>
          <a:prstGeom prst="rect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89304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Story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73736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92224" y="173736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901952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92224" y="1901952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" y="2596896"/>
            <a:ext cx="2578608" cy="201168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5968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Saving: ~95%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1840" y="1243584"/>
            <a:ext cx="2779776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243584"/>
            <a:ext cx="2779776" cy="384048"/>
          </a:xfrm>
          <a:prstGeom prst="rect">
            <a:avLst/>
          </a:prstGeom>
          <a:solidFill>
            <a:srgbClr val="00838F">
              <a:alpha val="8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1289304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to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1568" y="173736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18304" y="173736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01568" y="1901952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18304" y="1901952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hours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01568" y="2596896"/>
            <a:ext cx="2578608" cy="201168"/>
          </a:xfrm>
          <a:prstGeom prst="rect">
            <a:avLst/>
          </a:prstGeom>
          <a:solidFill>
            <a:srgbClr val="00838F">
              <a:alpha val="12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25968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Saving: ~90%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1243584"/>
            <a:ext cx="2779776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243584"/>
            <a:ext cx="2779776" cy="384048"/>
          </a:xfrm>
          <a:prstGeom prst="rect">
            <a:avLst/>
          </a:prstGeom>
          <a:solidFill>
            <a:srgbClr val="2E7D32">
              <a:alpha val="8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1289304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27648" y="173736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644384" y="173736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27648" y="1901952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(no docs)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44384" y="1901952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 generated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27648" y="2596896"/>
            <a:ext cx="2578608" cy="201168"/>
          </a:xfrm>
          <a:prstGeom prst="rect">
            <a:avLst/>
          </a:prstGeom>
          <a:solidFill>
            <a:srgbClr val="2E7D32">
              <a:alpha val="12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25968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Saving: +60pt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072384"/>
            <a:ext cx="2779776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3072384"/>
            <a:ext cx="2779776" cy="384048"/>
          </a:xfrm>
          <a:prstGeom prst="rect">
            <a:avLst/>
          </a:prstGeom>
          <a:solidFill>
            <a:srgbClr val="4527A0">
              <a:alpha val="8000"/>
            </a:srgbClr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3118104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Dev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" y="356616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792224" y="356616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5488" y="3730752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792224" y="3730752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5488" y="4425696"/>
            <a:ext cx="2578608" cy="201168"/>
          </a:xfrm>
          <a:prstGeom prst="rect">
            <a:avLst/>
          </a:prstGeom>
          <a:solidFill>
            <a:srgbClr val="4527A0">
              <a:alpha val="12000"/>
            </a:srgbClr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44256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Saving: ~95%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91840" y="3072384"/>
            <a:ext cx="2779776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91840" y="3072384"/>
            <a:ext cx="2779776" cy="384048"/>
          </a:xfrm>
          <a:prstGeom prst="rect">
            <a:avLst/>
          </a:prstGeom>
          <a:solidFill>
            <a:srgbClr val="E65100">
              <a:alpha val="8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1568" y="3118104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401568" y="356616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18304" y="356616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401568" y="3730752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checklist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718304" y="3730752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gates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401568" y="4425696"/>
            <a:ext cx="2578608" cy="201168"/>
          </a:xfrm>
          <a:prstGeom prst="rect">
            <a:avLst/>
          </a:prstGeom>
          <a:solidFill>
            <a:srgbClr val="E65100">
              <a:alpha val="12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01568" y="44256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Saving: Zero guesses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17920" y="3072384"/>
            <a:ext cx="2779776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217920" y="3072384"/>
            <a:ext cx="2779776" cy="384048"/>
          </a:xfrm>
          <a:prstGeom prst="rect">
            <a:avLst/>
          </a:prstGeom>
          <a:solidFill>
            <a:srgbClr val="C62828">
              <a:alpha val="8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27648" y="3118104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API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Breakage Risk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327648" y="356616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644384" y="356616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327648" y="3730752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644384" y="3730752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tested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327648" y="4425696"/>
            <a:ext cx="2578608" cy="201168"/>
          </a:xfrm>
          <a:prstGeom prst="rect">
            <a:avLst/>
          </a:prstGeom>
          <a:solidFill>
            <a:srgbClr val="C62828">
              <a:alpha val="12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27648" y="44256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Saving: Prevented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4B7C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182880"/>
            <a:ext cx="2011680" cy="219456"/>
          </a:xfrm>
          <a:prstGeom prst="rect">
            <a:avLst/>
          </a:prstGeom>
          <a:solidFill>
            <a:srgbClr val="42A5F5">
              <a:alpha val="13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1828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SUMMARY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75488" y="51206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Strategic Takeaways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75488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impact. Immediate applicability. No specialised hardware required.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8412480" cy="1060704"/>
          </a:xfrm>
          <a:prstGeom prst="rect">
            <a:avLst/>
          </a:prstGeom>
          <a:solidFill>
            <a:srgbClr val="133056"/>
          </a:solidFill>
          <a:ln w="12700">
            <a:solidFill>
              <a:srgbClr val="1D4B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81328"/>
            <a:ext cx="54864" cy="1060704"/>
          </a:xfrm>
          <a:prstGeom prst="rect">
            <a:avLst/>
          </a:prstGeom>
          <a:solidFill>
            <a:srgbClr val="42A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60704" y="1554480"/>
            <a:ext cx="6711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Without Sacrifice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60704" y="1883664"/>
            <a:ext cx="6711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AI-assisted teams deliver stories 60% faster with higher quality. Queen Agent orchestration compresses a 3-week sprint to 4–8 hours for new features — while maintaining all quality gates and human approval checkpoints.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33472"/>
            <a:ext cx="8412480" cy="1060704"/>
          </a:xfrm>
          <a:prstGeom prst="rect">
            <a:avLst/>
          </a:prstGeom>
          <a:solidFill>
            <a:srgbClr val="133056"/>
          </a:solidFill>
          <a:ln w="12700">
            <a:solidFill>
              <a:srgbClr val="1D4B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33472"/>
            <a:ext cx="54864" cy="1060704"/>
          </a:xfrm>
          <a:prstGeom prst="rect">
            <a:avLst/>
          </a:prstGeom>
          <a:solidFill>
            <a:srgbClr val="00AC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60704" y="2706624"/>
            <a:ext cx="6711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Risk Eliminated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60704" y="3035808"/>
            <a:ext cx="6711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Archaeology gives institutional memory for services built 5–8 years ago. Before any change: we know which customers are impacted, what the blast radius is, what will break. No more production incidents from 'harmless refactors'.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85616"/>
            <a:ext cx="8412480" cy="1060704"/>
          </a:xfrm>
          <a:prstGeom prst="rect">
            <a:avLst/>
          </a:prstGeom>
          <a:solidFill>
            <a:srgbClr val="133056"/>
          </a:solidFill>
          <a:ln w="12700">
            <a:solidFill>
              <a:srgbClr val="1D4B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785616"/>
            <a:ext cx="54864" cy="1060704"/>
          </a:xfrm>
          <a:prstGeom prst="rect">
            <a:avLst/>
          </a:prstGeom>
          <a:solidFill>
            <a:srgbClr val="F57C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3858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60704" y="3858768"/>
            <a:ext cx="6711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Upskilling Built In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60704" y="4187952"/>
            <a:ext cx="6711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team member gets up to speed on any service in 1 hour instead of 2 weeks. Repo QA answers questions from your own code, in your IDE, using both Copilot and Claude. Institutional knowledge that compounds over time.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1371600" cy="219456"/>
          </a:xfrm>
          <a:prstGeom prst="rect">
            <a:avLst/>
          </a:prstGeom>
          <a:solidFill>
            <a:srgbClr val="2E7D32">
              <a:alpha val="13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75488" y="49377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This Week — 3 Actions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5488" y="1069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 hardware. No new licences beyond what you already have. Just Claude Code + VS Code + your repos.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243584"/>
            <a:ext cx="2779776" cy="3694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43584"/>
            <a:ext cx="2779776" cy="512064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298448"/>
            <a:ext cx="347472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1298448"/>
            <a:ext cx="21579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6112" y="1463040"/>
            <a:ext cx="2157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Archaeology on One Service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" y="1865376"/>
            <a:ext cx="274320" cy="274320"/>
          </a:xfrm>
          <a:prstGeom prst="rect">
            <a:avLst/>
          </a:prstGeom>
          <a:solidFill>
            <a:srgbClr val="1565C0">
              <a:alpha val="13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865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Claude Code: npm install -g @anthropic-ai/claude-code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" y="2340864"/>
            <a:ext cx="274320" cy="274320"/>
          </a:xfrm>
          <a:prstGeom prst="rect">
            <a:avLst/>
          </a:prstGeom>
          <a:solidFill>
            <a:srgbClr val="1565C0">
              <a:alpha val="13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340864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most critical service in VS Code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" y="2816352"/>
            <a:ext cx="274320" cy="274320"/>
          </a:xfrm>
          <a:prstGeom prst="rect">
            <a:avLst/>
          </a:prstGeom>
          <a:solidFill>
            <a:srgbClr val="1565C0">
              <a:alpha val="13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2816352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'Scan this repo — Spring Boot on GKE via Apigee'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" y="3291840"/>
            <a:ext cx="274320" cy="274320"/>
          </a:xfrm>
          <a:prstGeom prst="rect">
            <a:avLst/>
          </a:prstGeom>
          <a:solidFill>
            <a:srgbClr val="1565C0">
              <a:alpha val="13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3291840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17+ context files written for both Copilot and Claude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" y="3767328"/>
            <a:ext cx="274320" cy="274320"/>
          </a:xfrm>
          <a:prstGeom prst="rect">
            <a:avLst/>
          </a:prstGeom>
          <a:solidFill>
            <a:srgbClr val="1565C0">
              <a:alpha val="13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3767328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and Claude Code both trained — same session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" y="4645152"/>
            <a:ext cx="2578608" cy="201168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64515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Both tools trained in 30 min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1243584"/>
            <a:ext cx="2779776" cy="3694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0" y="1243584"/>
            <a:ext cx="2779776" cy="512064"/>
          </a:xfrm>
          <a:prstGeom prst="rect">
            <a:avLst/>
          </a:prstGeom>
          <a:solidFill>
            <a:srgbClr val="0083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01568" y="1298448"/>
            <a:ext cx="347472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01568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822192" y="1298448"/>
            <a:ext cx="21579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Sprint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22192" y="1463040"/>
            <a:ext cx="2157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Generation from Code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401568" y="1865376"/>
            <a:ext cx="274320" cy="274320"/>
          </a:xfrm>
          <a:prstGeom prst="rect">
            <a:avLst/>
          </a:prstGeom>
          <a:solidFill>
            <a:srgbClr val="00838F">
              <a:alpha val="13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01568" y="1865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767328" y="1865376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archaeology, paste your next Epic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01568" y="2340864"/>
            <a:ext cx="274320" cy="274320"/>
          </a:xfrm>
          <a:prstGeom prst="rect">
            <a:avLst/>
          </a:prstGeom>
          <a:solidFill>
            <a:srgbClr val="00838F">
              <a:alpha val="13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0156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767328" y="2340864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story-generator skill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401568" y="2816352"/>
            <a:ext cx="274320" cy="274320"/>
          </a:xfrm>
          <a:prstGeom prst="rect">
            <a:avLst/>
          </a:prstGeom>
          <a:solidFill>
            <a:srgbClr val="00838F">
              <a:alpha val="13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01568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767328" y="2816352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Type A + B stories with estimates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401568" y="3291840"/>
            <a:ext cx="274320" cy="274320"/>
          </a:xfrm>
          <a:prstGeom prst="rect">
            <a:avLst/>
          </a:prstGeom>
          <a:solidFill>
            <a:srgbClr val="00838F">
              <a:alpha val="13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01568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767328" y="3291840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manual stories — check accuracy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401568" y="3767328"/>
            <a:ext cx="274320" cy="274320"/>
          </a:xfrm>
          <a:prstGeom prst="rect">
            <a:avLst/>
          </a:prstGeom>
          <a:solidFill>
            <a:srgbClr val="00838F">
              <a:alpha val="13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01568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767328" y="3767328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Jira tickets from output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401568" y="4645152"/>
            <a:ext cx="2578608" cy="201168"/>
          </a:xfrm>
          <a:prstGeom prst="rect">
            <a:avLst/>
          </a:prstGeom>
          <a:solidFill>
            <a:srgbClr val="00838F">
              <a:alpha val="12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01568" y="464515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Stories in under 1 hour of human time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217920" y="1243584"/>
            <a:ext cx="2779776" cy="3694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217920" y="1243584"/>
            <a:ext cx="2779776" cy="512064"/>
          </a:xfrm>
          <a:prstGeom prst="rect">
            <a:avLst/>
          </a:prstGeom>
          <a:solidFill>
            <a:srgbClr val="E651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27648" y="1298448"/>
            <a:ext cx="347472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27648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748272" y="1298448"/>
            <a:ext cx="21579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Quarter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748272" y="1463040"/>
            <a:ext cx="2157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Queen Orchestration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327648" y="1865376"/>
            <a:ext cx="274320" cy="274320"/>
          </a:xfrm>
          <a:prstGeom prst="rect">
            <a:avLst/>
          </a:prstGeom>
          <a:solidFill>
            <a:srgbClr val="E65100">
              <a:alpha val="13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27648" y="1865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693408" y="1865376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archaeology to all 8–10 services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327648" y="2340864"/>
            <a:ext cx="274320" cy="274320"/>
          </a:xfrm>
          <a:prstGeom prst="rect">
            <a:avLst/>
          </a:prstGeom>
          <a:solidFill>
            <a:srgbClr val="E65100">
              <a:alpha val="13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2764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693408" y="2340864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Queen Agent on a non-critical new feature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327648" y="2816352"/>
            <a:ext cx="274320" cy="274320"/>
          </a:xfrm>
          <a:prstGeom prst="rect">
            <a:avLst/>
          </a:prstGeom>
          <a:solidFill>
            <a:srgbClr val="E65100">
              <a:alpha val="13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27648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693408" y="2816352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full pipeline: Epic → GKE in 3–4 hours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327648" y="3291840"/>
            <a:ext cx="274320" cy="274320"/>
          </a:xfrm>
          <a:prstGeom prst="rect">
            <a:avLst/>
          </a:prstGeom>
          <a:solidFill>
            <a:srgbClr val="E65100">
              <a:alpha val="13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27648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693408" y="3291840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3-gate approval process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327648" y="3767328"/>
            <a:ext cx="274320" cy="274320"/>
          </a:xfrm>
          <a:prstGeom prst="rect">
            <a:avLst/>
          </a:prstGeom>
          <a:solidFill>
            <a:srgbClr val="E65100">
              <a:alpha val="13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27648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693408" y="3767328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the full team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327648" y="4645152"/>
            <a:ext cx="2578608" cy="201168"/>
          </a:xfrm>
          <a:prstGeom prst="rect">
            <a:avLst/>
          </a:prstGeom>
          <a:solidFill>
            <a:srgbClr val="E65100">
              <a:alpha val="12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27648" y="464515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agentic SDLC running on your team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4B7C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20624"/>
            <a:ext cx="73152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"Stop Reading Code.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Asking It Questions."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938528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SDLC doesn't replace engineers — it removes the hours of archaeology, documentation, and context-switching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engineers can focus on what only humans can do: judgment, creativity, and care.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2743200"/>
            <a:ext cx="2231136" cy="768096"/>
          </a:xfrm>
          <a:prstGeom prst="rect">
            <a:avLst/>
          </a:prstGeom>
          <a:solidFill>
            <a:srgbClr val="133056"/>
          </a:solidFill>
          <a:ln w="12700">
            <a:solidFill>
              <a:srgbClr val="1D4B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70432" y="279806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72768" y="281635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Archaeology: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before you change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93008" y="2743200"/>
            <a:ext cx="2231136" cy="768096"/>
          </a:xfrm>
          <a:prstGeom prst="rect">
            <a:avLst/>
          </a:prstGeom>
          <a:solidFill>
            <a:srgbClr val="133056"/>
          </a:solidFill>
          <a:ln w="12700">
            <a:solidFill>
              <a:srgbClr val="1D4B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279806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68496" y="281635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Generator: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from real code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88736" y="2743200"/>
            <a:ext cx="2231136" cy="768096"/>
          </a:xfrm>
          <a:prstGeom prst="rect">
            <a:avLst/>
          </a:prstGeom>
          <a:solidFill>
            <a:srgbClr val="133056"/>
          </a:solidFill>
          <a:ln w="12700">
            <a:solidFill>
              <a:srgbClr val="1D4B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61888" y="279806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👑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64224" y="281635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 Agent: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orchestra play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369417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" y="47000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by Curiosity. Built by Discipline. Delivered by Nirav Mehta.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to Cloud, Autonomously — Agentic SDLC</dc:title>
  <dc:subject>PptxGenJS Presentation</dc:subject>
  <dc:creator>Nirav Mehta</dc:creator>
  <cp:lastModifiedBy>Nirav Mehta</cp:lastModifiedBy>
  <cp:revision>1</cp:revision>
  <dcterms:created xsi:type="dcterms:W3CDTF">2026-06-05T03:15:43Z</dcterms:created>
  <dcterms:modified xsi:type="dcterms:W3CDTF">2026-06-05T03:15:43Z</dcterms:modified>
</cp:coreProperties>
</file>